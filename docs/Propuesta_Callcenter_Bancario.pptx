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Minutos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59E0B"/>
              </a:solidFill>
              <a:effectLst/>
            </c:spPr>
          </c:dPt>
          <c:dPt>
            <c:idx val="1"/>
            <c:bubble3D val="0"/>
            <c:spPr>
              <a:solidFill>
                <a:srgbClr val="64748B"/>
              </a:solidFill>
              <a:effectLst/>
            </c:spPr>
          </c:dPt>
          <c:dPt>
            <c:idx val="2"/>
            <c:bubble3D val="0"/>
            <c:spPr>
              <a:solidFill>
                <a:srgbClr val="EF4444"/>
              </a:solidFill>
              <a:effectLst/>
            </c:spPr>
          </c:dPt>
          <c:dPt>
            <c:idx val="3"/>
            <c:bubble3D val="0"/>
            <c:spPr>
              <a:solidFill>
                <a:srgbClr val="0D948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Espera / IVR</c:v>
                </c:pt>
                <c:pt idx="1">
                  <c:v>Datos repetidos</c:v>
                </c:pt>
                <c:pt idx="2">
                  <c:v>Fuera de horario</c:v>
                </c:pt>
                <c:pt idx="3">
                  <c:v>Caso complejo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28</c:v>
                </c:pt>
                <c:pt idx="1">
                  <c:v>22</c:v>
                </c:pt>
                <c:pt idx="2">
                  <c:v>18</c:v>
                </c:pt>
                <c:pt idx="3">
                  <c:v>32</c:v>
                </c:pt>
              </c:numCache>
            </c:numRef>
          </c:val>
        </c:ser>
        <c:firstSliceAng val="0"/>
        <c:holeSize val="50"/>
      </c:doughnutChart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Índice de costo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162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humano</c:v>
                  </c:pt>
                  <c:pt idx="1">
                    <c:v>Humano + IVR</c:v>
                  </c:pt>
                  <c:pt idx="2">
                    <c:v>Híbrido voz + humano</c:v>
                  </c:pt>
                  <c:pt idx="3">
                    <c:v>Voz 24/7 + escalación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82</c:v>
                </c:pt>
                <c:pt idx="2">
                  <c:v>58</c:v>
                </c:pt>
                <c:pt idx="3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A162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Mix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D9488"/>
              </a:solidFill>
              <a:effectLst/>
            </c:spPr>
          </c:dPt>
          <c:dPt>
            <c:idx val="1"/>
            <c:bubble3D val="0"/>
            <c:spPr>
              <a:solidFill>
                <a:srgbClr val="0A1628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bubble3D val="0"/>
            <c:spPr>
              <a:solidFill>
                <a:srgbClr val="64748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Voz primer nivel</c:v>
                </c:pt>
                <c:pt idx="1">
                  <c:v>Especialista humano</c:v>
                </c:pt>
                <c:pt idx="2">
                  <c:v>Fuera de horario / captura</c:v>
                </c:pt>
                <c:pt idx="3">
                  <c:v>Abandono / retrabajo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58</c:v>
                </c:pt>
                <c:pt idx="1">
                  <c:v>24</c:v>
                </c:pt>
                <c:pt idx="2">
                  <c:v>12</c:v>
                </c:pt>
                <c:pt idx="3">
                  <c:v>6</c:v>
                </c:pt>
              </c:numCache>
            </c:numRef>
          </c:val>
        </c:ser>
        <c:firstSliceAng val="0"/>
        <c:holeSize val="50"/>
      </c:doughnutChart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Hoy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A162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Tiempo de espera</c:v>
                  </c:pt>
                  <c:pt idx="1">
                    <c:v>Retrabajo de datos</c:v>
                  </c:pt>
                  <c:pt idx="2">
                    <c:v>Hueco fuera de horario</c:v>
                  </c:pt>
                  <c:pt idx="3">
                    <c:v>Inconsistencia de guion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 voz + admisión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A162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Tiempo de espera</c:v>
                  </c:pt>
                  <c:pt idx="1">
                    <c:v>Retrabajo de datos</c:v>
                  </c:pt>
                  <c:pt idx="2">
                    <c:v>Hueco fuera de horario</c:v>
                  </c:pt>
                  <c:pt idx="3">
                    <c:v>Inconsistencia de guion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40</c:v>
                </c:pt>
                <c:pt idx="2">
                  <c:v>20</c:v>
                </c:pt>
                <c:pt idx="3">
                  <c:v>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A162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280160"/>
            <a:ext cx="4937760" cy="4937760"/>
          </a:xfrm>
          <a:prstGeom prst="ellipse">
            <a:avLst/>
          </a:prstGeom>
          <a:solidFill>
            <a:srgbClr val="0F2A3F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291840"/>
            <a:ext cx="3474720" cy="3474720"/>
          </a:xfrm>
          <a:prstGeom prst="ellipse">
            <a:avLst/>
          </a:prstGeom>
          <a:solidFill>
            <a:srgbClr val="14385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114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15568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EJECUTIVA  ·  CALLCENTER BANCARIO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8595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costo de primera línea.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control. Misma voz de marca.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40080" y="31546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atiende llamadas inbound por telefonía SIP con Grok Voice Think Fast 2.0, opera banking_support (identidad, cuenta, tarjeta) y deja rastro en CRM, supervisor y grabación.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40080" y="4160520"/>
            <a:ext cx="3520440" cy="1691640"/>
          </a:xfrm>
          <a:prstGeom prst="rect">
            <a:avLst/>
          </a:prstGeom>
          <a:solidFill>
            <a:srgbClr val="122A45"/>
          </a:solidFill>
          <a:ln/>
        </p:spPr>
      </p:sp>
      <p:sp>
        <p:nvSpPr>
          <p:cNvPr id="10" name="Shape 7"/>
          <p:cNvSpPr/>
          <p:nvPr/>
        </p:nvSpPr>
        <p:spPr>
          <a:xfrm>
            <a:off x="640080" y="4160520"/>
            <a:ext cx="73152" cy="16916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8"/>
          <p:cNvSpPr/>
          <p:nvPr/>
        </p:nvSpPr>
        <p:spPr>
          <a:xfrm>
            <a:off x="896112" y="427939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−35 a −55%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96112" y="4937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relativo de primer nivel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(rango ilustrativo vs. 100% humano)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343400" y="4160520"/>
            <a:ext cx="3520440" cy="1691640"/>
          </a:xfrm>
          <a:prstGeom prst="rect">
            <a:avLst/>
          </a:prstGeom>
          <a:solidFill>
            <a:srgbClr val="122A45"/>
          </a:solidFill>
          <a:ln/>
        </p:spPr>
      </p:sp>
      <p:sp>
        <p:nvSpPr>
          <p:cNvPr id="14" name="Shape 11"/>
          <p:cNvSpPr/>
          <p:nvPr/>
        </p:nvSpPr>
        <p:spPr>
          <a:xfrm>
            <a:off x="4343400" y="4160520"/>
            <a:ext cx="73152" cy="16916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5" name="Text 12"/>
          <p:cNvSpPr/>
          <p:nvPr/>
        </p:nvSpPr>
        <p:spPr>
          <a:xfrm>
            <a:off x="4599432" y="427939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4599432" y="4937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de voz sin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un segundo turno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046720" y="4160520"/>
            <a:ext cx="3520440" cy="1691640"/>
          </a:xfrm>
          <a:prstGeom prst="rect">
            <a:avLst/>
          </a:prstGeom>
          <a:solidFill>
            <a:srgbClr val="122A45"/>
          </a:solidFill>
          <a:ln/>
        </p:spPr>
      </p:sp>
      <p:sp>
        <p:nvSpPr>
          <p:cNvPr id="18" name="Shape 15"/>
          <p:cNvSpPr/>
          <p:nvPr/>
        </p:nvSpPr>
        <p:spPr>
          <a:xfrm>
            <a:off x="8046720" y="4160520"/>
            <a:ext cx="73152" cy="16916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427939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1:1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302752" y="4937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Aislamiento por empresa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mezclar clientes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185855" y="64922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callcenter bancario paga de más por trabajo repetible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02920" y="987552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el costo se va a espera, repetición de datos, turnos extra y retrabajo. No a la conversación que sí requiere un humano.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80644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01368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61288" y="161848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Colas y scripts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61288" y="196596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IVR rígido. El caller se pierde antes de llegar a banca.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2606040"/>
            <a:ext cx="580644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98648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61288" y="271576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 cara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161288" y="306324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Rehacer KYC en cada llamada. Riesgo si se asume quién llama.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02920" y="3703320"/>
            <a:ext cx="580644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995928"/>
            <a:ext cx="347472" cy="34747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161288" y="381304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horario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1161288" y="41605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segundo turno humano es el renglón más caro del P&amp;L.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502920" y="4800600"/>
            <a:ext cx="580644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093208"/>
            <a:ext cx="347472" cy="34747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161288" y="491032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rastro único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1161288" y="52578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 de tarjeta y consulta no quedan en CRM + audio.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6583680" y="102412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SE VA EL MINUTO  ·  ilustrativo</a:t>
            </a:r>
            <a:endParaRPr lang="en-US" sz="110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6446520" y="1280160"/>
          <a:ext cx="521208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4" name="Text 17"/>
          <p:cNvSpPr/>
          <p:nvPr/>
        </p:nvSpPr>
        <p:spPr>
          <a:xfrm>
            <a:off x="502920" y="6510528"/>
            <a:ext cx="10454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propuesta ejecutiva  ·  rangos ilustrativos, no ROI auditado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11231575" y="6492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Management: voz, banca, CRM y control en un sistema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269748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43000"/>
            <a:ext cx="2697480" cy="914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4173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19202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Telefonía SIP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DID entra por LiveKit. Un número no enrutado no se atiende. Admisión real de cupo.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37560" y="1143000"/>
            <a:ext cx="269748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37560" y="1143000"/>
            <a:ext cx="2697480" cy="914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14173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20440" y="19202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Grok Voice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52044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Fast 2.0. Escucha primero, una pregunta a la vez. 26 voces xAI para la marca.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72200" y="1143000"/>
            <a:ext cx="269748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72200" y="1143000"/>
            <a:ext cx="2697480" cy="914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7" name="Text 15"/>
          <p:cNvSpPr/>
          <p:nvPr/>
        </p:nvSpPr>
        <p:spPr>
          <a:xfrm>
            <a:off x="6355080" y="14173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355080" y="19202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banking_support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35508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Identidad, cuenta BAC, tarjeta débito, bloqueo temporal, resumen de productos, escalación.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006840" y="1143000"/>
            <a:ext cx="269748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006840" y="1143000"/>
            <a:ext cx="2697480" cy="914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2" name="Text 20"/>
          <p:cNvSpPr/>
          <p:nvPr/>
        </p:nvSpPr>
        <p:spPr>
          <a:xfrm>
            <a:off x="9189720" y="14173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189720" y="19202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18972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aislado, supervisor, grabación Egress, RBAC, tope diario y 3 capas de concurrencia.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02920" y="6510528"/>
            <a:ext cx="10454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propuesta ejecutiva  ·  rangos ilustrativos, no ROI auditado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231575" y="6492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OPERA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marca del DID al especialista — con admisión, no con cola ficticia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307592" y="1170432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1307592" y="1170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828800" y="1371600"/>
            <a:ext cx="164592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874520"/>
            <a:ext cx="214884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" y="20574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" y="2651760"/>
            <a:ext cx="1874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PSTN → LiveKit Phone o trunk SIP.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575304" y="1170432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3575304" y="1170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096512" y="1371600"/>
            <a:ext cx="164592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Shape 12"/>
          <p:cNvSpPr/>
          <p:nvPr/>
        </p:nvSpPr>
        <p:spPr>
          <a:xfrm>
            <a:off x="2770632" y="1874520"/>
            <a:ext cx="214884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916936" y="20574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916936" y="2651760"/>
            <a:ext cx="1874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call-management toma el job.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843016" y="1170432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8" name="Text 16"/>
          <p:cNvSpPr/>
          <p:nvPr/>
        </p:nvSpPr>
        <p:spPr>
          <a:xfrm>
            <a:off x="5843016" y="1170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364224" y="1371600"/>
            <a:ext cx="164592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0" name="Shape 18"/>
          <p:cNvSpPr/>
          <p:nvPr/>
        </p:nvSpPr>
        <p:spPr>
          <a:xfrm>
            <a:off x="5038344" y="1874520"/>
            <a:ext cx="214884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184648" y="20574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Admisión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184648" y="2651760"/>
            <a:ext cx="1874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 calendario del tenant + 3 capas SQLite.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110728" y="1170432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4" name="Text 22"/>
          <p:cNvSpPr/>
          <p:nvPr/>
        </p:nvSpPr>
        <p:spPr>
          <a:xfrm>
            <a:off x="8110728" y="1170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631936" y="1371600"/>
            <a:ext cx="164592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6" name="Shape 24"/>
          <p:cNvSpPr/>
          <p:nvPr/>
        </p:nvSpPr>
        <p:spPr>
          <a:xfrm>
            <a:off x="7306056" y="1874520"/>
            <a:ext cx="214884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452360" y="20574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Voz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452360" y="2651760"/>
            <a:ext cx="1874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Grok Voice con idle, keyterms, replace, speed.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0378440" y="1170432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0" name="Text 28"/>
          <p:cNvSpPr/>
          <p:nvPr/>
        </p:nvSpPr>
        <p:spPr>
          <a:xfrm>
            <a:off x="10378440" y="1170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9573768" y="1874520"/>
            <a:ext cx="214884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720072" y="20574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Banca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720072" y="2651760"/>
            <a:ext cx="1874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con overlay de instancia (voz + instrucciones).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02920" y="6510528"/>
            <a:ext cx="10454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propuesta ejecutiva  ·  rangos ilustrativos, no ROI auditado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1231575" y="6492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BANCARIA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banking_support: identidad, cuenta, tarjeta y escalación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02920" y="1005840"/>
            <a:ext cx="11185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Apertura: «BAC Credomatic, buenos días, ¿en qué le puedo ayudar?»  El agente no asume identidad. lookup_customer usa el teléfono que el caller dicta.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3639312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764792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88136" y="1728216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lookup_customer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04088" y="2286000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del tenant con el teléfono dicho en voz.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297680" y="1508760"/>
            <a:ext cx="3639312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1764792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882896" y="1728216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verify_bac_account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498848" y="2286000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Últimos 4 de la cuenta. Nunca se recita el PAN completo.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8092440" y="1508760"/>
            <a:ext cx="3639312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3608" y="1764792"/>
            <a:ext cx="292608" cy="29260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677656" y="1728216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verify_debit_card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293608" y="2286000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Últimos 4 del débito y vencimiento opcional.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502920" y="3749040"/>
            <a:ext cx="3639312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4005072"/>
            <a:ext cx="292608" cy="29260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088136" y="3968496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block_debit_card_temporarily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704088" y="4526280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 temporal con rastro en la llamada.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4297680" y="3749040"/>
            <a:ext cx="3639312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848" y="4005072"/>
            <a:ext cx="292608" cy="29260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4882896" y="3968496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get_account_summary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4498848" y="4526280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 después de verificar (ahorro, débito, sucursal).</a:t>
            </a:r>
            <a:endParaRPr lang="en-US" sz="1500" dirty="0"/>
          </a:p>
        </p:txBody>
      </p:sp>
      <p:sp>
        <p:nvSpPr>
          <p:cNvPr id="26" name="Shape 19"/>
          <p:cNvSpPr/>
          <p:nvPr/>
        </p:nvSpPr>
        <p:spPr>
          <a:xfrm>
            <a:off x="8092440" y="3749040"/>
            <a:ext cx="3639312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3608" y="4005072"/>
            <a:ext cx="292608" cy="292608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8677656" y="3968496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to_escalation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8293608" y="4526280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 a humano cuando el caso deja de ser primer nivel.</a:t>
            </a:r>
            <a:endParaRPr lang="en-US" sz="1500" dirty="0"/>
          </a:p>
        </p:txBody>
      </p:sp>
      <p:sp>
        <p:nvSpPr>
          <p:cNvPr id="30" name="Text 22"/>
          <p:cNvSpPr/>
          <p:nvPr/>
        </p:nvSpPr>
        <p:spPr>
          <a:xfrm>
            <a:off x="502920" y="6510528"/>
            <a:ext cx="10454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propuesta ejecutiva  ·  rangos ilustrativos, no ROI auditado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11231575" y="6492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 COSTOS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costo de un minuto de primer nivel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02920" y="987552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ilustrativo (base 100 = agente humano en sitio). No es un ROI auditado ni un precio de contrato.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280160"/>
          <a:ext cx="731520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955280" y="1325880"/>
            <a:ext cx="37033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138160" y="14630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baja el costo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138160" y="18288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minutos humanos en saldo, bloqueo, verificación y captura fuera de horario.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955280" y="2880360"/>
            <a:ext cx="37033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138160" y="301752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no prometemos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138160" y="338328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 el equipo. Los casos complejos y quejas van a escalación humana.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955280" y="4434840"/>
            <a:ext cx="37033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8138160" y="45720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Palanca real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138160" y="49377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Cubrir la cola repetible con Grok Voice y medir en supervisor + CRM.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02920" y="6510528"/>
            <a:ext cx="10454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propuesta ejecutiva  ·  rangos ilustrativos, no ROI auditado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1231575" y="6492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DE MIX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trabaja el minuto cuando hay agente de voz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02920" y="9875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Rango ilustrativo de operación bancaria de primer nivel. Calibrar con un piloto de 2–4 semanas.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65760" y="1188720"/>
          <a:ext cx="603504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263640" y="1325880"/>
            <a:ext cx="53949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92240" y="149047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55–70%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492240" y="1984248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Llamadas de saldo, bloqueo y verificación que puede cerrar banking_support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63640" y="2880360"/>
            <a:ext cx="53949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92240" y="304495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línea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6492240" y="3538728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bancario con instancia, voz e instrucciones de la empresa — no un default genérico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63640" y="4434840"/>
            <a:ext cx="53949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492240" y="459943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cola falsa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492240" y="5093208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hay cupo, admit_inbound_job rechaza el job. No se finge una espera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2920" y="6510528"/>
            <a:ext cx="10454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propuesta ejecutiva  ·  rangos ilustrativos, no ROI auditado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1231575" y="6492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OPERATIVAS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vs. con Call Management  ·  índice 100 = operación actual</a:t>
            </a:r>
            <a:endParaRPr lang="en-US" sz="2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1097280"/>
          <a:ext cx="758952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1143000"/>
            <a:ext cx="3566160" cy="493776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13716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MEJORA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321040" y="187452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espera: la voz contesta al instante si hay cupo.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321040" y="283464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retrabajo: lookup una vez, con el teléfono dictado.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321040" y="379476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hueco nocturno: captura y bloqueo sin abrir turno.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321040" y="475488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consistencia: misma plantilla, overlay de la empresa.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02920" y="6510528"/>
            <a:ext cx="10454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propuesta ejecutiva  ·  rangos ilustrativos, no ROI auditado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231575" y="6492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gana dirección, operaciones y cumplimiento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3639312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298448"/>
            <a:ext cx="457200" cy="457200"/>
          </a:xfrm>
          <a:prstGeom prst="ellipse">
            <a:avLst/>
          </a:prstGeom>
          <a:solidFill>
            <a:srgbClr val="ECFDF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389888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135331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 costos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04088" y="1965960"/>
            <a:ext cx="3236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FTE de primer nivel en consultas repetibles. El humano se reserva para excepciones.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97680" y="1097280"/>
            <a:ext cx="3639312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98848" y="1298448"/>
            <a:ext cx="457200" cy="457200"/>
          </a:xfrm>
          <a:prstGeom prst="ellipse">
            <a:avLst/>
          </a:prstGeom>
          <a:solidFill>
            <a:srgbClr val="ECFDF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0288" y="1389888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74920" y="135331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498848" y="1965960"/>
            <a:ext cx="3236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inmediata en SIP cuando hay slot. Sin IVR de siete opciones.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92440" y="1097280"/>
            <a:ext cx="3639312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3608" y="1298448"/>
            <a:ext cx="457200" cy="457200"/>
          </a:xfrm>
          <a:prstGeom prst="ellipse">
            <a:avLst/>
          </a:prstGeom>
          <a:solidFill>
            <a:srgbClr val="ECFDF8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5048" y="1389888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869680" y="135331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8293608" y="1965960"/>
            <a:ext cx="3236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Voz 24/7 para bloqueo y captura. El turno humano cubre lo complejo.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02920" y="3611880"/>
            <a:ext cx="3639312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04088" y="3813048"/>
            <a:ext cx="457200" cy="457200"/>
          </a:xfrm>
          <a:prstGeom prst="ellipse">
            <a:avLst/>
          </a:prstGeom>
          <a:solidFill>
            <a:srgbClr val="ECFDF8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3904488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280160" y="386791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704088" y="4480560"/>
            <a:ext cx="3236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Grabación, transcript, webhook y CRM por llamada. Identidad no inventada.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4297680" y="3611880"/>
            <a:ext cx="3639312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498848" y="3813048"/>
            <a:ext cx="457200" cy="457200"/>
          </a:xfrm>
          <a:prstGeom prst="ellipse">
            <a:avLst/>
          </a:prstGeom>
          <a:solidFill>
            <a:srgbClr val="ECFDF8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0288" y="3904488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074920" y="386791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</a:t>
            </a:r>
            <a:endParaRPr lang="en-US" sz="1600" dirty="0"/>
          </a:p>
        </p:txBody>
      </p:sp>
      <p:sp>
        <p:nvSpPr>
          <p:cNvPr id="29" name="Text 22"/>
          <p:cNvSpPr/>
          <p:nvPr/>
        </p:nvSpPr>
        <p:spPr>
          <a:xfrm>
            <a:off x="4498848" y="4480560"/>
            <a:ext cx="3236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Español natural, una pregunta, voz de marca (26 voces xAI).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8092440" y="3611880"/>
            <a:ext cx="3639312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3608" y="3813048"/>
            <a:ext cx="457200" cy="457200"/>
          </a:xfrm>
          <a:prstGeom prst="ellipse">
            <a:avLst/>
          </a:prstGeom>
          <a:solidFill>
            <a:srgbClr val="ECFDF8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5048" y="3904488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869680" y="386791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Multi-empresa</a:t>
            </a:r>
            <a:endParaRPr lang="en-US" sz="1600" dirty="0"/>
          </a:p>
        </p:txBody>
      </p:sp>
      <p:sp>
        <p:nvSpPr>
          <p:cNvPr id="34" name="Text 26"/>
          <p:cNvSpPr/>
          <p:nvPr/>
        </p:nvSpPr>
        <p:spPr>
          <a:xfrm>
            <a:off x="8293608" y="4480560"/>
            <a:ext cx="3236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Varios bancos o marcas en un stack, CRM aislado, cupos independientes.</a:t>
            </a:r>
            <a:endParaRPr lang="en-US" sz="1400" dirty="0"/>
          </a:p>
        </p:txBody>
      </p:sp>
      <p:sp>
        <p:nvSpPr>
          <p:cNvPr id="35" name="Text 27"/>
          <p:cNvSpPr/>
          <p:nvPr/>
        </p:nvSpPr>
        <p:spPr>
          <a:xfrm>
            <a:off x="502920" y="6510528"/>
            <a:ext cx="10454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propuesta ejecutiva  ·  rangos ilustrativos, no ROI auditado</a:t>
            </a:r>
            <a:endParaRPr lang="en-US" sz="1000" dirty="0"/>
          </a:p>
        </p:txBody>
      </p:sp>
      <p:sp>
        <p:nvSpPr>
          <p:cNvPr id="36" name="Text 28"/>
          <p:cNvSpPr/>
          <p:nvPr/>
        </p:nvSpPr>
        <p:spPr>
          <a:xfrm>
            <a:off x="11231575" y="6492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Supervisor, grabación, CRM y permisos desde el día uno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1118585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097280"/>
            <a:ext cx="91440" cy="1115568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44752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1243584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371600" y="162763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Llamadas activas, cola, alertas del worker, uso por empresa / agente / DID.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02920" y="2331720"/>
            <a:ext cx="1118585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" y="2331720"/>
            <a:ext cx="91440" cy="1115568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679192"/>
            <a:ext cx="384048" cy="38404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371600" y="2478024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Grabación SIP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1371600" y="286207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LiveKit Egress a MinIO/S3. Audio en la ficha cuando termina el egress.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502920" y="3566160"/>
            <a:ext cx="1118585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02920" y="3566160"/>
            <a:ext cx="91440" cy="1115568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913632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71600" y="3712464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y transcript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1371600" y="409651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por tenant: turnos, notas, outcome, resumen post-llamada.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502920" y="4800600"/>
            <a:ext cx="1118585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A1628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502920" y="4800600"/>
            <a:ext cx="91440" cy="1115568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148072"/>
            <a:ext cx="384048" cy="38404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371600" y="4946904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+ playground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1371600" y="53309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y módulos. Lease de 30 min: el session_id no es un bearer token.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502920" y="6510528"/>
            <a:ext cx="10454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propuesta ejecutiva  ·  rangos ilustrativos, no ROI auditado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11231575" y="6492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LÍMITES Y AISLAMIENTO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ahorro no puede romper el cupo ni mezclar bancos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2286000" cy="1115568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6" name="Text 4"/>
          <p:cNvSpPr/>
          <p:nvPr/>
        </p:nvSpPr>
        <p:spPr>
          <a:xfrm>
            <a:off x="667512" y="1097280"/>
            <a:ext cx="19659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788920" y="1097280"/>
            <a:ext cx="889985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17520" y="126187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MAX_CONCURRENT_CALLS_PER_TENANT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017520" y="166420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Slots SQLite compartidos entre procesos del worker.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331720"/>
            <a:ext cx="2286000" cy="1115568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2331720"/>
            <a:ext cx="19659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788920" y="2331720"/>
            <a:ext cx="889985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17520" y="249631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Máx. simultáneas de la instancia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017520" y="289864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Banca puede tener un cupo distinto a recepción.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3566160"/>
            <a:ext cx="2286000" cy="1115568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6" name="Text 14"/>
          <p:cNvSpPr/>
          <p:nvPr/>
        </p:nvSpPr>
        <p:spPr>
          <a:xfrm>
            <a:off x="667512" y="3566160"/>
            <a:ext cx="19659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788920" y="3566160"/>
            <a:ext cx="889985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17520" y="373075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Máx. por número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017520" y="413308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línea bancaria no se satura a costa de otra.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2920" y="4800600"/>
            <a:ext cx="2286000" cy="1115568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21" name="Text 19"/>
          <p:cNvSpPr/>
          <p:nvPr/>
        </p:nvSpPr>
        <p:spPr>
          <a:xfrm>
            <a:off x="667512" y="4800600"/>
            <a:ext cx="19659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Diario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2788920" y="4800600"/>
            <a:ext cx="889985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017520" y="496519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max_calls_per_day + timezone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017520" y="53675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 calendario de la empresa, no UTC a ciegas.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" y="6510528"/>
            <a:ext cx="10454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propuesta ejecutiva  ·  rangos ilustrativos, no ROI auditado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231575" y="6492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Autorizar un piloto de 30 días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medir costo, mix y calidad.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70432" y="23317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de prueba + instancia banking_support activa.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035808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035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70432" y="2990088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 xAI y LiveKit con operaciones y cumplimiento.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3694176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694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70432" y="3648456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Tablero: % cerrado por voz, escalaciones, grabaciones, cupos.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4352544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3525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70432" y="4306824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de producción con horarios, voz de marca y webhooks.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366760" y="502920"/>
            <a:ext cx="3383280" cy="1828800"/>
          </a:xfrm>
          <a:prstGeom prst="rect">
            <a:avLst/>
          </a:prstGeom>
          <a:solidFill>
            <a:srgbClr val="122A45"/>
          </a:solidFill>
          <a:ln/>
        </p:spPr>
      </p:sp>
      <p:sp>
        <p:nvSpPr>
          <p:cNvPr id="18" name="Shape 16"/>
          <p:cNvSpPr/>
          <p:nvPr/>
        </p:nvSpPr>
        <p:spPr>
          <a:xfrm>
            <a:off x="8366760" y="502920"/>
            <a:ext cx="73152" cy="18288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8641080" y="70408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641080" y="12801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línea bancaria,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equipo de revisión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366760" y="2468880"/>
            <a:ext cx="3383280" cy="1828800"/>
          </a:xfrm>
          <a:prstGeom prst="rect">
            <a:avLst/>
          </a:prstGeom>
          <a:solidFill>
            <a:srgbClr val="122A45"/>
          </a:solidFill>
          <a:ln/>
        </p:spPr>
      </p:sp>
      <p:sp>
        <p:nvSpPr>
          <p:cNvPr id="22" name="Shape 20"/>
          <p:cNvSpPr/>
          <p:nvPr/>
        </p:nvSpPr>
        <p:spPr>
          <a:xfrm>
            <a:off x="8366760" y="2468880"/>
            <a:ext cx="73152" cy="18288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3" name="Text 21"/>
          <p:cNvSpPr/>
          <p:nvPr/>
        </p:nvSpPr>
        <p:spPr>
          <a:xfrm>
            <a:off x="8641080" y="267004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641080" y="32461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Costo/minuto, mix voz,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interno, incidentes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366760" y="4434840"/>
            <a:ext cx="3383280" cy="1828800"/>
          </a:xfrm>
          <a:prstGeom prst="rect">
            <a:avLst/>
          </a:prstGeom>
          <a:solidFill>
            <a:srgbClr val="122A45"/>
          </a:solidFill>
          <a:ln/>
        </p:spPr>
      </p:sp>
      <p:sp>
        <p:nvSpPr>
          <p:cNvPr id="26" name="Shape 24"/>
          <p:cNvSpPr/>
          <p:nvPr/>
        </p:nvSpPr>
        <p:spPr>
          <a:xfrm>
            <a:off x="8366760" y="4434840"/>
            <a:ext cx="73152" cy="18288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7" name="Text 25"/>
          <p:cNvSpPr/>
          <p:nvPr/>
        </p:nvSpPr>
        <p:spPr>
          <a:xfrm>
            <a:off x="8641080" y="463600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8641080" y="5212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autoriza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nombra un sponsor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Management  ·  propuesta ejecutiva para callcenter bancario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185855" y="64922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ejecutiva: callcenter bancario moderno</dc:title>
  <dc:subject>Reducción de costos, mejoras y beneficios con Grok Voice, SIP y CRM</dc:subject>
  <dc:creator>Call Management</dc:creator>
  <cp:lastModifiedBy>Call Management</cp:lastModifiedBy>
  <cp:revision>1</cp:revision>
  <dcterms:created xsi:type="dcterms:W3CDTF">2026-08-20T05:15:56Z</dcterms:created>
  <dcterms:modified xsi:type="dcterms:W3CDTF">2026-08-20T05:15:56Z</dcterms:modified>
</cp:coreProperties>
</file>
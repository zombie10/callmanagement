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Minutos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BBF24"/>
              </a:solidFill>
              <a:effectLst/>
            </c:spPr>
          </c:dPt>
          <c:dPt>
            <c:idx val="1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bubble3D val="0"/>
            <c:spPr>
              <a:solidFill>
                <a:srgbClr val="FB7185"/>
              </a:solidFill>
              <a:effectLst/>
            </c:spPr>
          </c:dPt>
          <c:dPt>
            <c:idx val="3"/>
            <c:bubble3D val="0"/>
            <c:spPr>
              <a:solidFill>
                <a:srgbClr val="2DD4B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8FAFC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8FAFC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8FAFC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8FAFC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Espera / IVR</c:v>
                </c:pt>
                <c:pt idx="1">
                  <c:v>Datos repetidos</c:v>
                </c:pt>
                <c:pt idx="2">
                  <c:v>Fuera de horario</c:v>
                </c:pt>
                <c:pt idx="3">
                  <c:v>Caso complejo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28</c:v>
                </c:pt>
                <c:pt idx="1">
                  <c:v>22</c:v>
                </c:pt>
                <c:pt idx="2">
                  <c:v>18</c:v>
                </c:pt>
                <c:pt idx="3">
                  <c:v>32</c:v>
                </c:pt>
              </c:numCache>
            </c:numRef>
          </c:val>
        </c:ser>
        <c:firstSliceAng val="0"/>
        <c:holeSize val="58"/>
      </c:doughnutChart>
      <c:spPr>
        <a:solidFill>
          <a:srgbClr val="101827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CBD5E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0182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Índice de costo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5EEAD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100% humano</c:v>
                  </c:pt>
                  <c:pt idx="1">
                    <c:v>Humano + IVR</c:v>
                  </c:pt>
                  <c:pt idx="2">
                    <c:v>Híbrido voz + humano</c:v>
                  </c:pt>
                  <c:pt idx="3">
                    <c:v>Voz 24/7 + escalación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82</c:v>
                </c:pt>
                <c:pt idx="2">
                  <c:v>58</c:v>
                </c:pt>
                <c:pt idx="3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5EEAD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2A4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1827"/>
        </a:solidFill>
        <a:ln>
          <a:noFill/>
        </a:ln>
        <a:effectLst/>
      </c:spPr>
    </c:plotArea>
    <c:plotVisOnly val="1"/>
    <c:dispBlanksAs val="span"/>
  </c:chart>
  <c:spPr>
    <a:solidFill>
      <a:srgbClr val="10182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D4BF"/>
              </a:solidFill>
              <a:effectLst/>
            </c:spPr>
          </c:dPt>
          <c:dPt>
            <c:idx val="1"/>
            <c:bubble3D val="0"/>
            <c:spPr>
              <a:solidFill>
                <a:srgbClr val="38BDF8"/>
              </a:solidFill>
              <a:effectLst/>
            </c:spPr>
          </c:dPt>
          <c:dPt>
            <c:idx val="2"/>
            <c:bubble3D val="0"/>
            <c:spPr>
              <a:solidFill>
                <a:srgbClr val="FBBF24"/>
              </a:solidFill>
              <a:effectLst/>
            </c:spPr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8FAFC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8FAFC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8FAFC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8FAFC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Voz primer nivel</c:v>
                </c:pt>
                <c:pt idx="1">
                  <c:v>Especialista humano</c:v>
                </c:pt>
                <c:pt idx="2">
                  <c:v>Fuera de horario / captura</c:v>
                </c:pt>
                <c:pt idx="3">
                  <c:v>Abandono / retrabajo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58</c:v>
                </c:pt>
                <c:pt idx="1">
                  <c:v>24</c:v>
                </c:pt>
                <c:pt idx="2">
                  <c:v>12</c:v>
                </c:pt>
                <c:pt idx="3">
                  <c:v>6</c:v>
                </c:pt>
              </c:numCache>
            </c:numRef>
          </c:val>
        </c:ser>
        <c:firstSliceAng val="0"/>
        <c:holeSize val="62"/>
      </c:doughnutChart>
      <c:spPr>
        <a:solidFill>
          <a:srgbClr val="101827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CBD5E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01827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Hoy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8FAF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Tiempo de espera</c:v>
                  </c:pt>
                  <c:pt idx="1">
                    <c:v>Retrabajo de datos</c:v>
                  </c:pt>
                  <c:pt idx="2">
                    <c:v>Hueco fuera de horario</c:v>
                  </c:pt>
                  <c:pt idx="3">
                    <c:v>Inconsistencia de guion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 voz + admisión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8FAF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Tiempo de espera</c:v>
                  </c:pt>
                  <c:pt idx="1">
                    <c:v>Retrabajo de datos</c:v>
                  </c:pt>
                  <c:pt idx="2">
                    <c:v>Hueco fuera de horario</c:v>
                  </c:pt>
                  <c:pt idx="3">
                    <c:v>Inconsistencia de guion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40</c:v>
                </c:pt>
                <c:pt idx="2">
                  <c:v>20</c:v>
                </c:pt>
                <c:pt idx="3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8FAF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A4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1827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CBD5E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0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4937760" cy="4937760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291840"/>
            <a:ext cx="3474720" cy="3474720"/>
          </a:xfrm>
          <a:prstGeom prst="ellipse">
            <a:avLst/>
          </a:prstGeom>
          <a:solidFill>
            <a:srgbClr val="14385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EJECUTIVA  ·  CALLCENTER BANCARIO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costo de primera línea.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control. Misma voz de marca.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31546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Management atiende llamadas inbound por telefonía SIP con Grok Voice Think Fast 2.0, opera banking_support (identidad, cuenta, tarjeta) y deja rastro en CRM, supervisor y grabación.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4160520"/>
            <a:ext cx="3520440" cy="169164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4160520"/>
            <a:ext cx="73152" cy="1691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42793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−35 a −55%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96112" y="4937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relativo de primer nivel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(rango ilustrativo vs. 100% humano)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43400" y="4160520"/>
            <a:ext cx="3520440" cy="169164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43400" y="4160520"/>
            <a:ext cx="73152" cy="1691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5" name="Text 12"/>
          <p:cNvSpPr/>
          <p:nvPr/>
        </p:nvSpPr>
        <p:spPr>
          <a:xfrm>
            <a:off x="4599432" y="42793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599432" y="4937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voz sin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un segundo turno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046720" y="4160520"/>
            <a:ext cx="3520440" cy="169164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4160520"/>
            <a:ext cx="73152" cy="1691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Text 16"/>
          <p:cNvSpPr/>
          <p:nvPr/>
        </p:nvSpPr>
        <p:spPr>
          <a:xfrm>
            <a:off x="8302752" y="42793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1:1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302752" y="4937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por empresa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mezclar clientes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185855" y="64922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011680"/>
            <a:ext cx="4754880" cy="475488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840480"/>
            <a:ext cx="4206240" cy="420624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callcenter bancario paga de más por trabajo repetible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el costo se va a espera, repetición de datos, turnos extra y retrabajo. No a la conversación que sí requiere un humano.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5806440" cy="987552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0136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61288" y="161848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Colas y scripts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61288" y="19659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IVR rígido. El caller se pierde antes de llegar a banca.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2606040"/>
            <a:ext cx="5806440" cy="987552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9864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61288" y="27157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cara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161288" y="30632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Rehacer KYC en cada llamada. Riesgo si se asume quién llama.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" y="3703320"/>
            <a:ext cx="5806440" cy="987552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9592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61288" y="38130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horario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161288" y="41605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segundo turno humano es el renglón más caro del P&amp;L.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02920" y="4800600"/>
            <a:ext cx="5806440" cy="987552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09320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61288" y="49103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rastro único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161288" y="52578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de tarjeta y consulta no quedan en CRM + audio.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583680" y="10241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VA EL MINUTO  ·  ilustrativo</a:t>
            </a:r>
            <a:endParaRPr lang="en-US" sz="11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446520" y="1280160"/>
          <a:ext cx="52120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6" name="Text 19"/>
          <p:cNvSpPr/>
          <p:nvPr/>
        </p:nvSpPr>
        <p:spPr>
          <a:xfrm>
            <a:off x="502920" y="6510528"/>
            <a:ext cx="104543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Management  ·  propuesta ejecutiva  ·  rangos ilustrativos, no ROI auditado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1231575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011680"/>
            <a:ext cx="4754880" cy="475488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840480"/>
            <a:ext cx="4206240" cy="420624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Management: voz, banca, CRM y control en un sistema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2697480" cy="502920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143000"/>
            <a:ext cx="2697480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17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Telefonía SIP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288036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DID entra por LiveKit. Un número no enrutado no se atiende. Admisión real de cupo.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37560" y="1143000"/>
            <a:ext cx="2697480" cy="502920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143000"/>
            <a:ext cx="2697480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417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20440" y="19202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Voice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20440" y="288036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Fast 2.0. Escucha primero, una pregunta a la vez. 26 voces xAI para la marca.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72200" y="1143000"/>
            <a:ext cx="2697480" cy="502920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143000"/>
            <a:ext cx="2697480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417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55080" y="19202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banking_support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55080" y="288036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Identidad, cuenta BAC, tarjeta débito, bloqueo temporal, resumen de productos, escalación.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006840" y="1143000"/>
            <a:ext cx="2697480" cy="502920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06840" y="1143000"/>
            <a:ext cx="2697480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4" name="Text 22"/>
          <p:cNvSpPr/>
          <p:nvPr/>
        </p:nvSpPr>
        <p:spPr>
          <a:xfrm>
            <a:off x="9189720" y="1417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89720" y="19202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189720" y="288036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aislado, supervisor, grabación Egress, RBAC, tope diario y 3 capas de concurrencia.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2920" y="6510528"/>
            <a:ext cx="104543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Management  ·  propuesta ejecutiva  ·  rangos ilustrativos, no ROI auditado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31575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011680"/>
            <a:ext cx="4754880" cy="475488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840480"/>
            <a:ext cx="4206240" cy="420624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OPERA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marca del DID al especialista — con admisión, no con cola ficticia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307592" y="117043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1307592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0" y="1371600"/>
            <a:ext cx="1645920" cy="54864"/>
          </a:xfrm>
          <a:prstGeom prst="rect">
            <a:avLst/>
          </a:prstGeom>
          <a:solidFill>
            <a:srgbClr val="2A4060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874520"/>
            <a:ext cx="2148840" cy="41605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" y="20574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" y="2651760"/>
            <a:ext cx="1874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PSTN → LiveKit Phone o trunk SIP.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75304" y="117043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3575304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96512" y="1371600"/>
            <a:ext cx="1645920" cy="54864"/>
          </a:xfrm>
          <a:prstGeom prst="rect">
            <a:avLst/>
          </a:prstGeom>
          <a:solidFill>
            <a:srgbClr val="2A4060"/>
          </a:solidFill>
          <a:ln/>
        </p:spPr>
      </p:sp>
      <p:sp>
        <p:nvSpPr>
          <p:cNvPr id="16" name="Shape 14"/>
          <p:cNvSpPr/>
          <p:nvPr/>
        </p:nvSpPr>
        <p:spPr>
          <a:xfrm>
            <a:off x="2770632" y="1874520"/>
            <a:ext cx="2148840" cy="41605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16936" y="20574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916936" y="2651760"/>
            <a:ext cx="1874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call-management toma el job.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843016" y="117043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0" name="Text 18"/>
          <p:cNvSpPr/>
          <p:nvPr/>
        </p:nvSpPr>
        <p:spPr>
          <a:xfrm>
            <a:off x="5843016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64224" y="1371600"/>
            <a:ext cx="1645920" cy="54864"/>
          </a:xfrm>
          <a:prstGeom prst="rect">
            <a:avLst/>
          </a:prstGeom>
          <a:solidFill>
            <a:srgbClr val="2A4060"/>
          </a:solidFill>
          <a:ln/>
        </p:spPr>
      </p:sp>
      <p:sp>
        <p:nvSpPr>
          <p:cNvPr id="22" name="Shape 20"/>
          <p:cNvSpPr/>
          <p:nvPr/>
        </p:nvSpPr>
        <p:spPr>
          <a:xfrm>
            <a:off x="5038344" y="1874520"/>
            <a:ext cx="2148840" cy="41605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84648" y="20574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Admisión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84648" y="2651760"/>
            <a:ext cx="1874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calendario del tenant + 3 capas SQLite.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10728" y="117043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8110728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31936" y="1371600"/>
            <a:ext cx="1645920" cy="54864"/>
          </a:xfrm>
          <a:prstGeom prst="rect">
            <a:avLst/>
          </a:prstGeom>
          <a:solidFill>
            <a:srgbClr val="2A4060"/>
          </a:solidFill>
          <a:ln/>
        </p:spPr>
      </p:sp>
      <p:sp>
        <p:nvSpPr>
          <p:cNvPr id="28" name="Shape 26"/>
          <p:cNvSpPr/>
          <p:nvPr/>
        </p:nvSpPr>
        <p:spPr>
          <a:xfrm>
            <a:off x="7306056" y="1874520"/>
            <a:ext cx="2148840" cy="41605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52360" y="20574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452360" y="2651760"/>
            <a:ext cx="1874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Voice con idle, keyterms, replace, speed.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378440" y="117043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2" name="Text 30"/>
          <p:cNvSpPr/>
          <p:nvPr/>
        </p:nvSpPr>
        <p:spPr>
          <a:xfrm>
            <a:off x="1037844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573768" y="1874520"/>
            <a:ext cx="2148840" cy="41605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720072" y="20574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720072" y="2651760"/>
            <a:ext cx="1874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con overlay de instancia (voz + instrucciones).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2920" y="6510528"/>
            <a:ext cx="104543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Management  ·  propuesta ejecutiva  ·  rangos ilustrativos, no ROI auditado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31575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011680"/>
            <a:ext cx="4754880" cy="475488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840480"/>
            <a:ext cx="4206240" cy="420624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BANCARIA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banking_support: identidad, cuenta, tarjeta y escalación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Apertura: «BAC Credomatic, buenos días, ¿en qué le puedo ayudar?»  El agente no asume identidad. lookup_customer usa el teléfono que el caller dicta.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3639312" cy="205740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764792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88136" y="172821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lookup_customer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04088" y="2286000"/>
            <a:ext cx="3236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del tenant con el teléfono dicho en voz.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297680" y="1508760"/>
            <a:ext cx="3639312" cy="205740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76479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82896" y="172821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verify_bac_account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498848" y="2286000"/>
            <a:ext cx="3236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Últimos 4 de la cuenta. Nunca se recita el PAN completo.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092440" y="1508760"/>
            <a:ext cx="3639312" cy="205740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76479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77656" y="172821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verify_debit_card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293608" y="2286000"/>
            <a:ext cx="3236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Últimos 4 del débito y vencimiento opcional.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02920" y="3749040"/>
            <a:ext cx="3639312" cy="205740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00507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88136" y="396849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block_debit_card_temporarily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04088" y="4526280"/>
            <a:ext cx="3236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temporal con rastro en la llamada.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4297680" y="3749040"/>
            <a:ext cx="3639312" cy="205740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4005072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882896" y="396849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get_account_summary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498848" y="4526280"/>
            <a:ext cx="3236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después de verificar (ahorro, débito, sucursal).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8092440" y="3749040"/>
            <a:ext cx="3639312" cy="205740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608" y="4005072"/>
            <a:ext cx="292608" cy="29260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677656" y="396849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to_escalation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8293608" y="4526280"/>
            <a:ext cx="3236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 a humano cuando el caso deja de ser primer nivel.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502920" y="6510528"/>
            <a:ext cx="104543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Management  ·  propuesta ejecutiva  ·  rangos ilustrativos, no ROI auditado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1231575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011680"/>
            <a:ext cx="4754880" cy="475488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840480"/>
            <a:ext cx="4206240" cy="420624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COSTOS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costo de un minuto de primer nivel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ilustrativo (base 100 = agente humano en sitio). No es un ROI auditado ni un precio de contrato.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1280160"/>
          <a:ext cx="73152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955280" y="1325880"/>
            <a:ext cx="3703320" cy="14173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138160" y="1463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baja el costo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138160" y="1828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minutos humanos en saldo, bloqueo, verificación y captura fuera de horario.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955280" y="2880360"/>
            <a:ext cx="3703320" cy="14173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138160" y="30175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 prometemos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138160" y="33832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el equipo. Los casos complejos y quejas van a escalación humana.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955280" y="4434840"/>
            <a:ext cx="3703320" cy="14173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138160" y="4572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Palanca real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138160" y="49377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Cubrir la cola repetible con Grok Voice y medir en supervisor + CRM.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02920" y="6510528"/>
            <a:ext cx="104543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Management  ·  propuesta ejecutiva  ·  rangos ilustrativos, no ROI auditado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231575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011680"/>
            <a:ext cx="4754880" cy="475488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840480"/>
            <a:ext cx="4206240" cy="420624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DE MIX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trabaja el minuto cuando hay agente de voz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ilustrativo de operación bancaria de primer nivel. Calibrar con un piloto de 2–4 semanas.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188720"/>
          <a:ext cx="60350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263640" y="1325880"/>
            <a:ext cx="5394960" cy="14173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2240" y="149047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55–70%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492240" y="198424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de saldo, bloqueo y verificación que puede cerrar banking_support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2880360"/>
            <a:ext cx="5394960" cy="14173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92240" y="304495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línea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492240" y="353872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bancario con instancia, voz e instrucciones de la empresa — no un default genérico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63640" y="4434840"/>
            <a:ext cx="5394960" cy="14173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92240" y="459943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cola falsa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492240" y="509320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hay cupo, admit_inbound_job rechaza el job. No se finge una espera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" y="6510528"/>
            <a:ext cx="104543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Management  ·  propuesta ejecutiva  ·  rangos ilustrativos, no ROI auditado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231575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011680"/>
            <a:ext cx="4754880" cy="475488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840480"/>
            <a:ext cx="4206240" cy="420624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OPERATIVAS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vs. con Call Management  ·  índice 100 = operación actual</a:t>
            </a:r>
            <a:endParaRPr lang="en-US" sz="2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1097280"/>
          <a:ext cx="758952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092440" y="1143000"/>
            <a:ext cx="3566160" cy="493776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21040" y="13716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MEJORA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321040" y="18745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espera: la voz contesta al instante si hay cupo.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321040" y="283464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retrabajo: lookup una vez, con el teléfono dictado.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321040" y="37947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hueco nocturno: captura y bloqueo sin abrir turno.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321040" y="47548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consistencia: misma plantilla, overlay de la empresa.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6510528"/>
            <a:ext cx="104543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Management  ·  propuesta ejecutiva  ·  rangos ilustrativos, no ROI auditado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31575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011680"/>
            <a:ext cx="4754880" cy="475488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840480"/>
            <a:ext cx="4206240" cy="420624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gana dirección, operaciones y cumplimiento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3639312" cy="23317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1298448"/>
            <a:ext cx="457200" cy="457200"/>
          </a:xfrm>
          <a:prstGeom prst="ellipse">
            <a:avLst/>
          </a:prstGeom>
          <a:solidFill>
            <a:srgbClr val="10182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38988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3533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costos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04088" y="1965960"/>
            <a:ext cx="3236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FTE de primer nivel en consultas repetibles. El humano se reserva para excepciones.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97680" y="1097280"/>
            <a:ext cx="3639312" cy="23317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98848" y="1298448"/>
            <a:ext cx="457200" cy="457200"/>
          </a:xfrm>
          <a:prstGeom prst="ellipse">
            <a:avLst/>
          </a:prstGeom>
          <a:solidFill>
            <a:srgbClr val="10182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38988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74920" y="13533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498848" y="1965960"/>
            <a:ext cx="3236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inmediata en SIP cuando hay slot. Sin IVR de siete opciones.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92440" y="1097280"/>
            <a:ext cx="3639312" cy="23317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93608" y="1298448"/>
            <a:ext cx="457200" cy="457200"/>
          </a:xfrm>
          <a:prstGeom prst="ellipse">
            <a:avLst/>
          </a:prstGeom>
          <a:solidFill>
            <a:srgbClr val="10182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38988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69680" y="13533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293608" y="1965960"/>
            <a:ext cx="3236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24/7 para bloqueo y captura. El turno humano cubre lo complejo.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02920" y="3611880"/>
            <a:ext cx="3639312" cy="23317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04088" y="3813048"/>
            <a:ext cx="457200" cy="457200"/>
          </a:xfrm>
          <a:prstGeom prst="ellipse">
            <a:avLst/>
          </a:prstGeom>
          <a:solidFill>
            <a:srgbClr val="10182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904488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80160" y="38679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04088" y="4480560"/>
            <a:ext cx="3236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Grabación, transcript, webhook y CRM por llamada. Identidad no inventada.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4297680" y="3611880"/>
            <a:ext cx="3639312" cy="23317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498848" y="3813048"/>
            <a:ext cx="457200" cy="457200"/>
          </a:xfrm>
          <a:prstGeom prst="ellipse">
            <a:avLst/>
          </a:prstGeom>
          <a:solidFill>
            <a:srgbClr val="101827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3904488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074920" y="38679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4498848" y="4480560"/>
            <a:ext cx="3236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Español natural, una pregunta, voz de marca (26 voces xAI).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8092440" y="3611880"/>
            <a:ext cx="3639312" cy="23317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293608" y="3813048"/>
            <a:ext cx="457200" cy="457200"/>
          </a:xfrm>
          <a:prstGeom prst="ellipse">
            <a:avLst/>
          </a:prstGeom>
          <a:solidFill>
            <a:srgbClr val="101827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3904488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869680" y="38679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Multi-empresa</a:t>
            </a:r>
            <a:endParaRPr lang="en-US" sz="1600" dirty="0"/>
          </a:p>
        </p:txBody>
      </p:sp>
      <p:sp>
        <p:nvSpPr>
          <p:cNvPr id="36" name="Text 28"/>
          <p:cNvSpPr/>
          <p:nvPr/>
        </p:nvSpPr>
        <p:spPr>
          <a:xfrm>
            <a:off x="8293608" y="4480560"/>
            <a:ext cx="3236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bancos o marcas en un stack, CRM aislado, cupos independientes.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502920" y="6510528"/>
            <a:ext cx="104543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Management  ·  propuesta ejecutiva  ·  rangos ilustrativos, no ROI auditado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11231575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011680"/>
            <a:ext cx="4754880" cy="475488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840480"/>
            <a:ext cx="4206240" cy="420624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Supervisor, grabación, CRM y permisos desde el día uno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11185855" cy="1115568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097280"/>
            <a:ext cx="91440" cy="1115568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44752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24358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71600" y="16276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activas, cola, alertas del worker, uso por empresa / agente / DID.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02920" y="2331720"/>
            <a:ext cx="11185855" cy="1115568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2920" y="2331720"/>
            <a:ext cx="91440" cy="1115568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79192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247802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Grabación SIP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371600" y="286207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LiveKit Egress a MinIO/S3. Audio en la ficha cuando termina el egress.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02920" y="3566160"/>
            <a:ext cx="11185855" cy="1115568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2920" y="3566160"/>
            <a:ext cx="91440" cy="1115568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13632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71246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y transcript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371600" y="409651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por tenant: turnos, notas, outcome, resumen post-llamada.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02920" y="4800600"/>
            <a:ext cx="11185855" cy="1115568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02920" y="4800600"/>
            <a:ext cx="91440" cy="1115568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494690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playground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371600" y="53309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módulos. Lease de 30 min: el session_id no es un bearer token.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02920" y="6510528"/>
            <a:ext cx="104543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Management  ·  propuesta ejecutiva  ·  rangos ilustrativos, no ROI auditado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231575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011680"/>
            <a:ext cx="4754880" cy="475488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840480"/>
            <a:ext cx="4206240" cy="420624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Y AISLAMIENTO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ahorro no puede romper el cupo ni mezclar bancos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2286000" cy="1115568"/>
          </a:xfrm>
          <a:prstGeom prst="rect">
            <a:avLst/>
          </a:prstGeom>
          <a:solidFill>
            <a:srgbClr val="101827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097280"/>
            <a:ext cx="1965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88920" y="1097280"/>
            <a:ext cx="8899855" cy="1115568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26187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MAX_CONCURRENT_CALLS_PER_TENANT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17520" y="166420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SQLite compartidos entre procesos del worker.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31720"/>
            <a:ext cx="2286000" cy="1115568"/>
          </a:xfrm>
          <a:prstGeom prst="rect">
            <a:avLst/>
          </a:prstGeom>
          <a:solidFill>
            <a:srgbClr val="101827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2331720"/>
            <a:ext cx="1965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788920" y="2331720"/>
            <a:ext cx="8899855" cy="1115568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249631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Máx. simultáneas de la instancia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17520" y="28986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 puede tener un cupo distinto a recepción.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2286000" cy="1115568"/>
          </a:xfrm>
          <a:prstGeom prst="rect">
            <a:avLst/>
          </a:prstGeom>
          <a:solidFill>
            <a:srgbClr val="101827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566160"/>
            <a:ext cx="1965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788920" y="3566160"/>
            <a:ext cx="8899855" cy="1115568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373075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Máx. por número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017520" y="413308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línea bancaria no se satura a costa de otra.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4800600"/>
            <a:ext cx="2286000" cy="1115568"/>
          </a:xfrm>
          <a:prstGeom prst="rect">
            <a:avLst/>
          </a:prstGeom>
          <a:solidFill>
            <a:srgbClr val="101827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4800600"/>
            <a:ext cx="1965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788920" y="4800600"/>
            <a:ext cx="8899855" cy="1115568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496519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max_calls_per_day + timezone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017520" y="536752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calendario de la empresa, no UTC a ciegas.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510528"/>
            <a:ext cx="104543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Management  ·  propuesta ejecutiva  ·  rangos ilustrativos, no ROI auditado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31575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Autorizar un piloto de 30 días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medir costo, mix y calidad.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0432" y="23317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de prueba + instancia banking_support activa.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035808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299008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 xAI y LiveKit con operaciones y cumplimiento.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694176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70432" y="364845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Tablero: % cerrado por voz, escalaciones, grabaciones, cupos.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352544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70432" y="430682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producción con horarios, voz de marca y webhooks.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66760" y="502920"/>
            <a:ext cx="3383280" cy="182880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6760" y="502920"/>
            <a:ext cx="73152" cy="18288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8641080" y="7040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41080" y="1280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línea bancaria,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equipo de revisión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366760" y="2468880"/>
            <a:ext cx="3383280" cy="182880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66760" y="2468880"/>
            <a:ext cx="73152" cy="18288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3" name="Text 21"/>
          <p:cNvSpPr/>
          <p:nvPr/>
        </p:nvSpPr>
        <p:spPr>
          <a:xfrm>
            <a:off x="8641080" y="26700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641080" y="32461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Costo/minuto, mix voz,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interno, incidentes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366760" y="4434840"/>
            <a:ext cx="3383280" cy="182880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5EEAD4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66760" y="4434840"/>
            <a:ext cx="73152" cy="18288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7" name="Text 25"/>
          <p:cNvSpPr/>
          <p:nvPr/>
        </p:nvSpPr>
        <p:spPr>
          <a:xfrm>
            <a:off x="8641080" y="46360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641080" y="5212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autoriza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nombra un sponsor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Management  ·  propuesta ejecutiva para callcenter bancario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185855" y="64922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ejecutiva: callcenter bancario moderno</dc:title>
  <dc:subject>Reducción de costos, mejoras y beneficios con Grok Voice, SIP y CRM</dc:subject>
  <dc:creator>Call Management</dc:creator>
  <cp:lastModifiedBy>Call Management</cp:lastModifiedBy>
  <cp:revision>1</cp:revision>
  <dcterms:created xsi:type="dcterms:W3CDTF">2026-08-20T05:59:50Z</dcterms:created>
  <dcterms:modified xsi:type="dcterms:W3CDTF">2026-08-20T05:59:50Z</dcterms:modified>
</cp:coreProperties>
</file>
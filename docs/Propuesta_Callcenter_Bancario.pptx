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0"/>
            <a:ext cx="4846320" cy="685800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9144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EJECUTIVA  ·  CALLCENTER BANCARIO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2286000" cy="13716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6492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F8F8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Agentes de voz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F8F8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para la primera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F8F8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línea bancaria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448056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Management atiende llamadas inbound por telefonía SIP con Grok Voice Think Fast 2.0, enruta al especialista bancario y deja rastro en CRM, supervisor y grabación.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5577840"/>
            <a:ext cx="1828800" cy="1371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7607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Management  ·  confidencial para dirección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680960" y="777240"/>
            <a:ext cx="45720" cy="1051560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0" y="795528"/>
            <a:ext cx="384048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dirty="0">
                <a:solidFill>
                  <a:srgbClr val="F8F8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863840" y="1387145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Grok Voice Think Fast</a:t>
            </a:r>
            <a:endParaRPr lang="en-US" sz="11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sesión de voz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680960" y="2011680"/>
            <a:ext cx="45720" cy="1051560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0" y="2029968"/>
            <a:ext cx="384048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dirty="0">
                <a:solidFill>
                  <a:srgbClr val="F8F8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863840" y="2621585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Voces xAI para marcar</a:t>
            </a:r>
            <a:endParaRPr lang="en-US" sz="11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línea de la empresa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680960" y="3246120"/>
            <a:ext cx="45720" cy="1051560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0" y="3264408"/>
            <a:ext cx="384048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dirty="0">
                <a:solidFill>
                  <a:srgbClr val="F8F8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863840" y="3856025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Plantillas de agente</a:t>
            </a:r>
            <a:endParaRPr lang="en-US" sz="11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incluye banking_support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680960" y="4480560"/>
            <a:ext cx="45720" cy="1051560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0" y="4498848"/>
            <a:ext cx="384048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dirty="0">
                <a:solidFill>
                  <a:srgbClr val="F8F8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1:1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7863840" y="5090465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aislado por empresa</a:t>
            </a:r>
            <a:endParaRPr lang="en-US" sz="11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mezclar clientes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680960" y="630936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Capacidades del sistema en producción. Sin cifras de mercado inventadas.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84280" y="630936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08080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callcenter bancario se rompe en la </a:t>
            </a:r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EE32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primera línea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64240" cy="13716"/>
          </a:xfrm>
          <a:prstGeom prst="rect">
            <a:avLst/>
          </a:prstGeom>
          <a:solidFill>
            <a:srgbClr val="D8D8D8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17320"/>
            <a:ext cx="544068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417320"/>
            <a:ext cx="73152" cy="1874520"/>
          </a:xfrm>
          <a:prstGeom prst="rect">
            <a:avLst/>
          </a:prstGeom>
          <a:solidFill>
            <a:srgbClr val="EE322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73352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67335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Colas y scripts rígidos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cliente espera o recorre un IVR. El agente lee un cuestionario. Se pierde el motivo de la llamada.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1417320"/>
            <a:ext cx="544068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72200" y="1417320"/>
            <a:ext cx="73152" cy="1874520"/>
          </a:xfrm>
          <a:prstGeom prst="rect">
            <a:avLst/>
          </a:prstGeom>
          <a:solidFill>
            <a:srgbClr val="EE322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73352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03720" y="167335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 mal resuelta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446520" y="21945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Asumir quién llama es un riesgo. Pedir datos de más, también. Hay que verificar cuenta y tarjeta sin exponer PAN completo.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3474720"/>
            <a:ext cx="544068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48640" y="3474720"/>
            <a:ext cx="73152" cy="1874520"/>
          </a:xfrm>
          <a:prstGeom prst="rect">
            <a:avLst/>
          </a:prstGeom>
          <a:solidFill>
            <a:srgbClr val="EE322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730752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73075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Cumplimiento y rastro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22960" y="42519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Bloqueo de tarjeta, consulta de productos y escalación deben quedar en CRM, grabación y supervisor — no en un cuaderno.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172200" y="3474720"/>
            <a:ext cx="544068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172200" y="3474720"/>
            <a:ext cx="73152" cy="1874520"/>
          </a:xfrm>
          <a:prstGeom prst="rect">
            <a:avLst/>
          </a:prstGeom>
          <a:solidFill>
            <a:srgbClr val="EE322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3730752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903720" y="373075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Varias empresas, un mismo stack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6446520" y="42519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orquestador no puede mezclar clientes entre bancos o sucursales. El CRM y los cupos tienen que estar aislados.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0"/>
          <p:cNvSpPr/>
          <p:nvPr/>
        </p:nvSpPr>
        <p:spPr>
          <a:xfrm>
            <a:off x="548640" y="5989320"/>
            <a:ext cx="45720" cy="457200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27" name="Text 21"/>
          <p:cNvSpPr/>
          <p:nvPr/>
        </p:nvSpPr>
        <p:spPr>
          <a:xfrm>
            <a:off x="731520" y="5989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CLAVE  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dirección no necesita otro chatbot: necesita una primera línea de voz que identifique, opere y deje evidencia.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548640" y="6537960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C6C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operación típica de centro de contacto bancario frente a las capacidades de Call Management.</a:t>
            </a:r>
            <a:endParaRPr lang="en-US" sz="750" dirty="0"/>
          </a:p>
        </p:txBody>
      </p:sp>
      <p:sp>
        <p:nvSpPr>
          <p:cNvPr id="29" name="Text 23"/>
          <p:cNvSpPr/>
          <p:nvPr/>
        </p:nvSpPr>
        <p:spPr>
          <a:xfrm>
            <a:off x="11247120" y="65379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PROPUESTA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08080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Call Management: </a:t>
            </a:r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EE32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sistema de callcenter bancario</a:t>
            </a:r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08080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con voz, CRM y control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64240" cy="13716"/>
          </a:xfrm>
          <a:prstGeom prst="rect">
            <a:avLst/>
          </a:prstGeom>
          <a:solidFill>
            <a:srgbClr val="D8D8D8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17320"/>
            <a:ext cx="2651760" cy="4160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417320"/>
            <a:ext cx="2651760" cy="54864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645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E32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3232" y="21031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Telefonía inbound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13232" y="2971800"/>
            <a:ext cx="2331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cliente marca el DID. LiveKit SIP entrega la llamada al worker call-management. Un DID no enrutado no se atiende.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37560" y="1417320"/>
            <a:ext cx="2651760" cy="4160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37560" y="1417320"/>
            <a:ext cx="2651760" cy="54864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645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E32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02152" y="21031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de voz Grok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02152" y="2971800"/>
            <a:ext cx="2331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Grok Voice Think Fast 2.0 habla con estilo telefónico: escucha primero, una pregunta a la vez, frases cortas.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26480" y="1417320"/>
            <a:ext cx="2651760" cy="4160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1417320"/>
            <a:ext cx="2651760" cy="54864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645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E32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91072" y="21031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 bancaria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91072" y="2971800"/>
            <a:ext cx="2331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plantilla banking_support (BAC Credomatic) verifica cuenta y tarjeta, bloquea débito de forma temporal y resume productos.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915400" y="1417320"/>
            <a:ext cx="2651760" cy="4160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15400" y="1417320"/>
            <a:ext cx="2651760" cy="54864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22" name="Text 20"/>
          <p:cNvSpPr/>
          <p:nvPr/>
        </p:nvSpPr>
        <p:spPr>
          <a:xfrm>
            <a:off x="9079992" y="1645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E32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079992" y="21031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Gobierno operativo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079992" y="2971800"/>
            <a:ext cx="2331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por empresa, supervisor en tiempo real, grabación Egress, roles y módulos, tope diario y cupos concurrentes.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48640" y="5989320"/>
            <a:ext cx="45720" cy="457200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5989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CLAVE  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un piloto de IA genérica: es el mismo sistema que ya opera telefonía, voz, CRM y supervisión.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6537960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C6C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Call Management — README, AGENTS.md, TELEPHONY.md.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247120" y="65379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OPERACIÓN DE LA LLAMADA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08080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 celular al especialista bancario, con admisión real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64240" cy="13716"/>
          </a:xfrm>
          <a:prstGeom prst="rect">
            <a:avLst/>
          </a:prstGeom>
          <a:solidFill>
            <a:srgbClr val="D8D8D8"/>
          </a:solidFill>
          <a:ln/>
        </p:spPr>
      </p:sp>
      <p:sp>
        <p:nvSpPr>
          <p:cNvPr id="5" name="Shape 3"/>
          <p:cNvSpPr/>
          <p:nvPr/>
        </p:nvSpPr>
        <p:spPr>
          <a:xfrm>
            <a:off x="1325880" y="1417320"/>
            <a:ext cx="438912" cy="438912"/>
          </a:xfrm>
          <a:prstGeom prst="ellipse">
            <a:avLst/>
          </a:prstGeom>
          <a:solidFill>
            <a:srgbClr val="EE322F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1417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828800" y="1609344"/>
            <a:ext cx="1600200" cy="36576"/>
          </a:xfrm>
          <a:prstGeom prst="rect">
            <a:avLst/>
          </a:prstGeom>
          <a:solidFill>
            <a:srgbClr val="D8D8D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057400"/>
            <a:ext cx="210312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2240280"/>
            <a:ext cx="1847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 DID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76656" y="2926080"/>
            <a:ext cx="18470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PSTN entra por LiveKit Phone o trunk SIP.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57016" y="1417320"/>
            <a:ext cx="438912" cy="438912"/>
          </a:xfrm>
          <a:prstGeom prst="ellipse">
            <a:avLst/>
          </a:prstGeom>
          <a:solidFill>
            <a:srgbClr val="EE322F"/>
          </a:solidFill>
          <a:ln/>
        </p:spPr>
      </p:sp>
      <p:sp>
        <p:nvSpPr>
          <p:cNvPr id="12" name="Text 10"/>
          <p:cNvSpPr/>
          <p:nvPr/>
        </p:nvSpPr>
        <p:spPr>
          <a:xfrm>
            <a:off x="3557016" y="1417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059936" y="1609344"/>
            <a:ext cx="1600200" cy="36576"/>
          </a:xfrm>
          <a:prstGeom prst="rect">
            <a:avLst/>
          </a:prstGeom>
          <a:solidFill>
            <a:srgbClr val="D8D8D8"/>
          </a:solidFill>
          <a:ln/>
        </p:spPr>
      </p:sp>
      <p:sp>
        <p:nvSpPr>
          <p:cNvPr id="14" name="Shape 12"/>
          <p:cNvSpPr/>
          <p:nvPr/>
        </p:nvSpPr>
        <p:spPr>
          <a:xfrm>
            <a:off x="2779776" y="2057400"/>
            <a:ext cx="210312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07792" y="2240280"/>
            <a:ext cx="1847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907792" y="2926080"/>
            <a:ext cx="18470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regla apunta al worker call-management.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88152" y="1417320"/>
            <a:ext cx="438912" cy="438912"/>
          </a:xfrm>
          <a:prstGeom prst="ellipse">
            <a:avLst/>
          </a:prstGeom>
          <a:solidFill>
            <a:srgbClr val="EE322F"/>
          </a:solidFill>
          <a:ln/>
        </p:spPr>
      </p:sp>
      <p:sp>
        <p:nvSpPr>
          <p:cNvPr id="18" name="Text 16"/>
          <p:cNvSpPr/>
          <p:nvPr/>
        </p:nvSpPr>
        <p:spPr>
          <a:xfrm>
            <a:off x="5788152" y="1417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91072" y="1609344"/>
            <a:ext cx="1600200" cy="36576"/>
          </a:xfrm>
          <a:prstGeom prst="rect">
            <a:avLst/>
          </a:prstGeom>
          <a:solidFill>
            <a:srgbClr val="D8D8D8"/>
          </a:solidFill>
          <a:ln/>
        </p:spPr>
      </p:sp>
      <p:sp>
        <p:nvSpPr>
          <p:cNvPr id="20" name="Shape 18"/>
          <p:cNvSpPr/>
          <p:nvPr/>
        </p:nvSpPr>
        <p:spPr>
          <a:xfrm>
            <a:off x="5010912" y="2057400"/>
            <a:ext cx="210312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38928" y="2240280"/>
            <a:ext cx="1847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Admisión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138928" y="2926080"/>
            <a:ext cx="18470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Cupo diario (zona de la empresa) y 3 capas de concurrencia.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019288" y="1417320"/>
            <a:ext cx="438912" cy="438912"/>
          </a:xfrm>
          <a:prstGeom prst="ellipse">
            <a:avLst/>
          </a:prstGeom>
          <a:solidFill>
            <a:srgbClr val="EE322F"/>
          </a:solidFill>
          <a:ln/>
        </p:spPr>
      </p:sp>
      <p:sp>
        <p:nvSpPr>
          <p:cNvPr id="24" name="Text 22"/>
          <p:cNvSpPr/>
          <p:nvPr/>
        </p:nvSpPr>
        <p:spPr>
          <a:xfrm>
            <a:off x="8019288" y="1417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522208" y="1609344"/>
            <a:ext cx="1600200" cy="36576"/>
          </a:xfrm>
          <a:prstGeom prst="rect">
            <a:avLst/>
          </a:prstGeom>
          <a:solidFill>
            <a:srgbClr val="D8D8D8"/>
          </a:solidFill>
          <a:ln/>
        </p:spPr>
      </p:sp>
      <p:sp>
        <p:nvSpPr>
          <p:cNvPr id="26" name="Shape 24"/>
          <p:cNvSpPr/>
          <p:nvPr/>
        </p:nvSpPr>
        <p:spPr>
          <a:xfrm>
            <a:off x="7242048" y="2057400"/>
            <a:ext cx="210312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70064" y="2240280"/>
            <a:ext cx="1847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Voz Grok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370064" y="2926080"/>
            <a:ext cx="18470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RealtimeModel con idle, keyterms, replace, speed y resumption.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0250424" y="1417320"/>
            <a:ext cx="438912" cy="438912"/>
          </a:xfrm>
          <a:prstGeom prst="ellipse">
            <a:avLst/>
          </a:prstGeom>
          <a:solidFill>
            <a:srgbClr val="EE322F"/>
          </a:solidFill>
          <a:ln/>
        </p:spPr>
      </p:sp>
      <p:sp>
        <p:nvSpPr>
          <p:cNvPr id="30" name="Text 28"/>
          <p:cNvSpPr/>
          <p:nvPr/>
        </p:nvSpPr>
        <p:spPr>
          <a:xfrm>
            <a:off x="10250424" y="1417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473184" y="2057400"/>
            <a:ext cx="210312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01200" y="2240280"/>
            <a:ext cx="1847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Handoff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601200" y="2926080"/>
            <a:ext cx="18470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Recepción o banca con overlay de instancia: voz e instrucciones de la empresa.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548640" y="5989320"/>
            <a:ext cx="45720" cy="457200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5989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CLAVE  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diario o una capa está llena, admit_inbound_job rechaza el job: no se abre una sesión fingida de “está en cola”.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48640" y="6537960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C6C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server.py, tenancy/queue.py, FLUJOS_OPERATIVOS.md.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1247120" y="65379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 BANCARIA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08080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banking_support: </a:t>
            </a:r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EE32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identidad, cuenta, tarjeta y escalación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64240" cy="13716"/>
          </a:xfrm>
          <a:prstGeom prst="rect">
            <a:avLst/>
          </a:prstGeom>
          <a:solidFill>
            <a:srgbClr val="D8D8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716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Apertura en español: «BAC Credomatic, buenos días, ¿en qué le puedo ayudar?»  El agente no asume la identidad al conectar. El CRM se consulta cuando el caller dicta el teléfono.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611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194560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215798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lookup_customer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13232" y="25603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 al cliente en el CRM del tenant con el teléfono que el caller dice.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97680" y="2011680"/>
            <a:ext cx="3611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2272" y="2194560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800600" y="215798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verify_bac_account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462272" y="25603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 los últimos 4 dígitos de la cuenta BAC. No se recita el número completo.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46720" y="2011680"/>
            <a:ext cx="3611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2194560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549640" y="215798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verify_debit_card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8211312" y="25603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Últimos 4 de la tarjeta débito y vencimiento opcional.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3794760"/>
            <a:ext cx="3611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3977640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51560" y="394106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block_debit_card_temporarily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713232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Bloqueo temporal ante compra sospechosa o extravío, con rastro en la llamada.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297680" y="3794760"/>
            <a:ext cx="3611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272" y="3977640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800600" y="394106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get_account_summary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4462272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de productos después de la verificación (ahorro, débito, sucursal).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8046720" y="3794760"/>
            <a:ext cx="3611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3977640"/>
            <a:ext cx="256032" cy="25603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8549640" y="394106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to_escalation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8211312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 a supervisor humano o cola de escalación cuando el caso lo exige.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3"/>
          <p:cNvSpPr/>
          <p:nvPr/>
        </p:nvSpPr>
        <p:spPr>
          <a:xfrm>
            <a:off x="548640" y="5989320"/>
            <a:ext cx="45720" cy="457200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32" name="Text 24"/>
          <p:cNvSpPr/>
          <p:nvPr/>
        </p:nvSpPr>
        <p:spPr>
          <a:xfrm>
            <a:off x="731520" y="5989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CLAVE  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voz nunca expone PAN completo. Identidad, cuenta y tarjeta se tratan como herramientas de operación, no como charla.</a:t>
            </a:r>
            <a:endParaRPr lang="en-US" sz="900" dirty="0"/>
          </a:p>
        </p:txBody>
      </p:sp>
      <p:sp>
        <p:nvSpPr>
          <p:cNvPr id="33" name="Text 25"/>
          <p:cNvSpPr/>
          <p:nvPr/>
        </p:nvSpPr>
        <p:spPr>
          <a:xfrm>
            <a:off x="548640" y="6537960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C6C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AGENTS.md y crm/banking_data.py (escenario BAC Credomatic).</a:t>
            </a:r>
            <a:endParaRPr lang="en-US" sz="750" dirty="0"/>
          </a:p>
        </p:txBody>
      </p:sp>
      <p:sp>
        <p:nvSpPr>
          <p:cNvPr id="34" name="Text 26"/>
          <p:cNvSpPr/>
          <p:nvPr/>
        </p:nvSpPr>
        <p:spPr>
          <a:xfrm>
            <a:off x="11247120" y="65379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Y EVIDENCIA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08080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dirección y cumplimiento pueden ver el mismo día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64240" cy="13716"/>
          </a:xfrm>
          <a:prstGeom prst="rect">
            <a:avLst/>
          </a:prstGeom>
          <a:solidFill>
            <a:srgbClr val="D8D8D8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371600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71600"/>
            <a:ext cx="73152" cy="960120"/>
          </a:xfrm>
          <a:prstGeom prst="rect">
            <a:avLst/>
          </a:prstGeom>
          <a:solidFill>
            <a:srgbClr val="EE322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6420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148132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325880" y="182880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Llamadas activas, cola, alertas del worker y uso por empresa, agente y DID.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423160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2423160"/>
            <a:ext cx="73152" cy="960120"/>
          </a:xfrm>
          <a:prstGeom prst="rect">
            <a:avLst/>
          </a:prstGeom>
          <a:solidFill>
            <a:srgbClr val="EE322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15768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25880" y="253288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Grabación SIP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325880" y="288036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LiveKit Egress a MinIO/S3. Audio en la ficha de la llamada cuando termina el egress.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3474720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48640" y="3474720"/>
            <a:ext cx="73152" cy="960120"/>
          </a:xfrm>
          <a:prstGeom prst="rect">
            <a:avLst/>
          </a:prstGeom>
          <a:solidFill>
            <a:srgbClr val="EE322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767328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35844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y transcript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1325880" y="39319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por tenant: turnos, notas, outcome y resumen post-llamada opcional.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548640" y="4526280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48640" y="4526280"/>
            <a:ext cx="73152" cy="960120"/>
          </a:xfrm>
          <a:prstGeom prst="rect">
            <a:avLst/>
          </a:prstGeom>
          <a:solidFill>
            <a:srgbClr val="EE322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818888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25880" y="463600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1325880" y="498348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super_admin, admin, viewer, playground. Módulos: llamadas, análisis, auditoría, claves API.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0"/>
          <p:cNvSpPr/>
          <p:nvPr/>
        </p:nvSpPr>
        <p:spPr>
          <a:xfrm>
            <a:off x="548640" y="5989320"/>
            <a:ext cx="45720" cy="457200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27" name="Text 21"/>
          <p:cNvSpPr/>
          <p:nvPr/>
        </p:nvSpPr>
        <p:spPr>
          <a:xfrm>
            <a:off x="731520" y="5989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CLAVE  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interacción queda en CRM aislado, con audio y permisos. El playground no es un token suelto: lease de 30 minutos por usuario y empresa.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548640" y="6537960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C6C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ADMIN.md, TELEPHONY.md (grabación), playground_sessions.py.</a:t>
            </a:r>
            <a:endParaRPr lang="en-US" sz="750" dirty="0"/>
          </a:p>
        </p:txBody>
      </p:sp>
      <p:sp>
        <p:nvSpPr>
          <p:cNvPr id="29" name="Text 23"/>
          <p:cNvSpPr/>
          <p:nvPr/>
        </p:nvSpPr>
        <p:spPr>
          <a:xfrm>
            <a:off x="11247120" y="65379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AISLAMIENTO Y LÍMITES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08080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Una plataforma, </a:t>
            </a:r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EE32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muchas empresas sin mezclar datos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64240" cy="13716"/>
          </a:xfrm>
          <a:prstGeom prst="rect">
            <a:avLst/>
          </a:prstGeom>
          <a:solidFill>
            <a:srgbClr val="D8D8D8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371600"/>
            <a:ext cx="2194560" cy="960120"/>
          </a:xfrm>
          <a:prstGeom prst="rect">
            <a:avLst/>
          </a:prstGeom>
          <a:solidFill>
            <a:srgbClr val="080808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37160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8F8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Empresa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0" y="1371600"/>
            <a:ext cx="88696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1481328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MAX_CONCURRENT_CALLS_PER_TENANT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182880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Tope global de simultáneas. Slots en SQLite (platform.db), compartidos entre procesos del worker.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423160"/>
            <a:ext cx="2194560" cy="960120"/>
          </a:xfrm>
          <a:prstGeom prst="rect">
            <a:avLst/>
          </a:prstGeom>
          <a:solidFill>
            <a:srgbClr val="080808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42316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8F8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743200" y="2423160"/>
            <a:ext cx="88696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2532888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simultáneas de la instancia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26080" y="288036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Banca puede tener un cupo distinto a recepción. Se configura en Mis agentes.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474720"/>
            <a:ext cx="2194560" cy="960120"/>
          </a:xfrm>
          <a:prstGeom prst="rect">
            <a:avLst/>
          </a:prstGeom>
          <a:solidFill>
            <a:srgbClr val="080808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47472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8F8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DID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743200" y="3474720"/>
            <a:ext cx="88696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26080" y="3584448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por número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926080" y="39319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línea bancaria no se satura a costa de otra. Vacío = solo aplica el tope de empresa.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2194560" cy="960120"/>
          </a:xfrm>
          <a:prstGeom prst="rect">
            <a:avLst/>
          </a:prstGeom>
          <a:solidFill>
            <a:srgbClr val="080808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52628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8F8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Diario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2743200" y="4526280"/>
            <a:ext cx="88696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0" y="4636008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max_calls_per_day + timezone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926080" y="49834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día es el calendario de la empresa (p. ej. America/Guatemala), no UTC a ciegas.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48640" y="5989320"/>
            <a:ext cx="45720" cy="457200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5989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CLAVE  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en data/tenants/{id}/crm.db. DID desconocido falla cerrado. Sin cupo: el job se descarta, no se sirve.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6537960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C6C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tenancy/queue.py, calendar_day.py, context.resolve_dispatch.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247120" y="65379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 NEGOCIO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08080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Piezas que ve dirección — no un diagrama de clases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64240" cy="13716"/>
          </a:xfrm>
          <a:prstGeom prst="rect">
            <a:avLst/>
          </a:prstGeom>
          <a:solidFill>
            <a:srgbClr val="D8D8D8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17320"/>
            <a:ext cx="210312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4440" y="1691640"/>
            <a:ext cx="731520" cy="731520"/>
          </a:xfrm>
          <a:prstGeom prst="ellipse">
            <a:avLst/>
          </a:prstGeom>
          <a:solidFill>
            <a:srgbClr val="08080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8745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260604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76656" y="3291840"/>
            <a:ext cx="184708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 el DID de la empresa o prueba en playground.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779776" y="1417320"/>
            <a:ext cx="210312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65576" y="1691640"/>
            <a:ext cx="731520" cy="731520"/>
          </a:xfrm>
          <a:prstGeom prst="ellipse">
            <a:avLst/>
          </a:prstGeom>
          <a:solidFill>
            <a:srgbClr val="08080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8456" y="18745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889504" y="260604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LiveKit + Grok Voice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2907792" y="3291840"/>
            <a:ext cx="184708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 SIP o WebSocket. El worker habla con Think Fast 2.0.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010912" y="1417320"/>
            <a:ext cx="210312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696712" y="1691640"/>
            <a:ext cx="731520" cy="731520"/>
          </a:xfrm>
          <a:prstGeom prst="ellipse">
            <a:avLst/>
          </a:prstGeom>
          <a:solidFill>
            <a:srgbClr val="080808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592" y="18745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120640" y="260604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5138928" y="3291840"/>
            <a:ext cx="184708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Recepción, banca, soporte, ventas, técnico, escalación.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7242048" y="1417320"/>
            <a:ext cx="210312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7927848" y="1691640"/>
            <a:ext cx="731520" cy="731520"/>
          </a:xfrm>
          <a:prstGeom prst="ellipse">
            <a:avLst/>
          </a:prstGeom>
          <a:solidFill>
            <a:srgbClr val="08080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187452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51776" y="260604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7370064" y="3291840"/>
            <a:ext cx="184708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Instancia, voz, DID, horario, CRM propio, webhooks y API keys.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9473184" y="1417320"/>
            <a:ext cx="210312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10158984" y="1691640"/>
            <a:ext cx="731520" cy="731520"/>
          </a:xfrm>
          <a:prstGeom prst="ellipse">
            <a:avLst/>
          </a:prstGeom>
          <a:solidFill>
            <a:srgbClr val="080808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1864" y="1874520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582912" y="260604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9601200" y="3291840"/>
            <a:ext cx="184708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Supervisor, registros, análisis, Flujos / Operación, usuarios.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4"/>
          <p:cNvSpPr/>
          <p:nvPr/>
        </p:nvSpPr>
        <p:spPr>
          <a:xfrm>
            <a:off x="548640" y="5989320"/>
            <a:ext cx="45720" cy="457200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32" name="Text 25"/>
          <p:cNvSpPr/>
          <p:nvPr/>
        </p:nvSpPr>
        <p:spPr>
          <a:xfrm>
            <a:off x="731520" y="5989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CLAVE  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staff opera en /callmgmt. El cliente nunca entra al admin: entra por el teléfono o por una prueba controlada.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548640" y="6537960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C6C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README.md y FLUJOS_OPERATIVOS.md.</a:t>
            </a:r>
            <a:endParaRPr lang="en-US" sz="750" dirty="0"/>
          </a:p>
        </p:txBody>
      </p:sp>
      <p:sp>
        <p:nvSpPr>
          <p:cNvPr id="34" name="Text 27"/>
          <p:cNvSpPr/>
          <p:nvPr/>
        </p:nvSpPr>
        <p:spPr>
          <a:xfrm>
            <a:off x="11247120" y="65379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OPERATIVO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08080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gana el callcenter </a:t>
            </a:r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EE32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sin inventar un ROI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64240" cy="13716"/>
          </a:xfrm>
          <a:prstGeom prst="rect">
            <a:avLst/>
          </a:prstGeom>
          <a:solidFill>
            <a:srgbClr val="D8D8D8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371600"/>
            <a:ext cx="361188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5361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E32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Primera línea siempre lista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recepción o la banca contestan con la voz e instrucciones de la instancia de la empresa, no con un default genérico.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61188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15361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E32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80560" y="1828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Misma calidad en cada llamada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233172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Estilo telefónico compartido: escuchar, una pregunta, no inventar identidad, confirmar solo lo irreversible.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371600"/>
            <a:ext cx="361188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5361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E32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0" y="1828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para auditoría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0" y="233172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Transcript, grabación, webhook call.started / call.ended / agent.handoff y ficha de cliente unificada.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474720"/>
            <a:ext cx="361188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6393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E32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39319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Tope de riesgo operativo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1520" y="44348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Cupos por empresa, agente y DID. Día calendario local. Job rechazado cuando no hay capacidad real.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297680" y="3474720"/>
            <a:ext cx="361188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36393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E32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80560" y="39319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sin quemar el DID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480560" y="44348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Playground xAI (browser) o LiveKit producción. Sesiones atadas al usuario; otro operador no usa el id ajeno.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46720" y="3474720"/>
            <a:ext cx="361188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36393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E32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29600" y="39319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08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Varias marcas, un stack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229600" y="44348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Orquestador multi-empresa con branding, DID y CRM propios. Plantillas globales; instancias locales.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5989320"/>
            <a:ext cx="45720" cy="457200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5989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CLAVE  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valor es operativo y de control: atender, verificar, registrar y limitar. Cualquier ahorro de headcount es consecuencia, no la tesis.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6537960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C6C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capacidades ya desplegadas del producto; no hay tabla de precio ni retorno proyectado.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1247120" y="65379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389120" cy="6858000"/>
          </a:xfrm>
          <a:prstGeom prst="rect">
            <a:avLst/>
          </a:prstGeom>
          <a:solidFill>
            <a:srgbClr val="14141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SIGUIENTE PASO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914400"/>
            <a:ext cx="2286000" cy="13716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6" name="Text 3"/>
          <p:cNvSpPr/>
          <p:nvPr/>
        </p:nvSpPr>
        <p:spPr>
          <a:xfrm>
            <a:off x="548640" y="1097280"/>
            <a:ext cx="6858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800" dirty="0">
                <a:solidFill>
                  <a:srgbClr val="F8F8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Autorizar un piloto</a:t>
            </a:r>
            <a:endParaRPr lang="en-US" sz="28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800" dirty="0">
                <a:solidFill>
                  <a:srgbClr val="F8F8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 callcenter bancario</a:t>
            </a:r>
            <a:endParaRPr lang="en-US" sz="28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800" dirty="0">
                <a:solidFill>
                  <a:srgbClr val="F8F8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sobre Call Management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3337560"/>
            <a:ext cx="329184" cy="329184"/>
          </a:xfrm>
          <a:prstGeom prst="ellipse">
            <a:avLst/>
          </a:prstGeom>
          <a:solidFill>
            <a:srgbClr val="EE322F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337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05840" y="32918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de prueba + instancia banking_support activa en Mis agentes.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3977640"/>
            <a:ext cx="329184" cy="329184"/>
          </a:xfrm>
          <a:prstGeom prst="ellipse">
            <a:avLst/>
          </a:prstGeom>
          <a:solidFill>
            <a:srgbClr val="EE322F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Playground xAI y LiveKit con el equipo de operaciones y cumplimiento.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4617720"/>
            <a:ext cx="329184" cy="329184"/>
          </a:xfrm>
          <a:prstGeom prst="ellipse">
            <a:avLst/>
          </a:prstGeom>
          <a:solidFill>
            <a:srgbClr val="EE322F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4617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05840" y="45720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Supervisor, registros y grabación revisados en un set de llamadas reales.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5257800"/>
            <a:ext cx="329184" cy="329184"/>
          </a:xfrm>
          <a:prstGeom prst="ellipse">
            <a:avLst/>
          </a:prstGeom>
          <a:solidFill>
            <a:srgbClr val="EE322F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5257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05840" y="52120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de producción: horarios, cupos, voz de marca y webhooks al core.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092440" y="640080"/>
            <a:ext cx="45720" cy="1143000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20" name="Text 17"/>
          <p:cNvSpPr/>
          <p:nvPr/>
        </p:nvSpPr>
        <p:spPr>
          <a:xfrm>
            <a:off x="8275320" y="658368"/>
            <a:ext cx="347472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dirty="0">
                <a:solidFill>
                  <a:srgbClr val="F8F8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Piloto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75320" y="13030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línea, un agente bancario,</a:t>
            </a:r>
            <a:endParaRPr lang="en-US" sz="11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equipo de revisión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092440" y="2011680"/>
            <a:ext cx="45720" cy="1143000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23" name="Text 20"/>
          <p:cNvSpPr/>
          <p:nvPr/>
        </p:nvSpPr>
        <p:spPr>
          <a:xfrm>
            <a:off x="8275320" y="2029968"/>
            <a:ext cx="347472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dirty="0">
                <a:solidFill>
                  <a:srgbClr val="F8F8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8275320" y="26746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CRM, supervisor, audio</a:t>
            </a:r>
            <a:endParaRPr lang="en-US" sz="11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RBAC desde el día uno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92440" y="3383280"/>
            <a:ext cx="45720" cy="1143000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26" name="Text 23"/>
          <p:cNvSpPr/>
          <p:nvPr/>
        </p:nvSpPr>
        <p:spPr>
          <a:xfrm>
            <a:off x="8275320" y="3401568"/>
            <a:ext cx="347472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dirty="0">
                <a:solidFill>
                  <a:srgbClr val="F8F8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Escala</a:t>
            </a:r>
            <a:endParaRPr lang="en-US" sz="2800" dirty="0"/>
          </a:p>
        </p:txBody>
      </p:sp>
      <p:sp>
        <p:nvSpPr>
          <p:cNvPr id="27" name="Text 24"/>
          <p:cNvSpPr/>
          <p:nvPr/>
        </p:nvSpPr>
        <p:spPr>
          <a:xfrm>
            <a:off x="8275320" y="40462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DID e instancias</a:t>
            </a:r>
            <a:endParaRPr lang="en-US" sz="11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mezclar empresas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092440" y="4754880"/>
            <a:ext cx="45720" cy="1143000"/>
          </a:xfrm>
          <a:prstGeom prst="rect">
            <a:avLst/>
          </a:prstGeom>
          <a:solidFill>
            <a:srgbClr val="EE322F"/>
          </a:solidFill>
          <a:ln/>
        </p:spPr>
      </p:sp>
      <p:sp>
        <p:nvSpPr>
          <p:cNvPr id="29" name="Text 26"/>
          <p:cNvSpPr/>
          <p:nvPr/>
        </p:nvSpPr>
        <p:spPr>
          <a:xfrm>
            <a:off x="8275320" y="4773168"/>
            <a:ext cx="347472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dirty="0">
                <a:solidFill>
                  <a:srgbClr val="F8F8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Ahora</a:t>
            </a:r>
            <a:endParaRPr lang="en-US" sz="2800" dirty="0"/>
          </a:p>
        </p:txBody>
      </p:sp>
      <p:sp>
        <p:nvSpPr>
          <p:cNvPr id="30" name="Text 27"/>
          <p:cNvSpPr/>
          <p:nvPr/>
        </p:nvSpPr>
        <p:spPr>
          <a:xfrm>
            <a:off x="8275320" y="54178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Dirección autoriza el piloto</a:t>
            </a:r>
            <a:endParaRPr lang="en-US" sz="11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nombra un sponsor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48640" y="653796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Management  ·  propuesta ejecutiva para callcenter bancario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384280" y="653796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E3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ejecutiva: callcenter bancario</dc:title>
  <dc:subject>Call Management — agentes de voz Grok Voice, telefonía SIP y CRM aislado</dc:subject>
  <dc:creator>Call Management</dc:creator>
  <cp:lastModifiedBy>Call Management</cp:lastModifiedBy>
  <cp:revision>1</cp:revision>
  <dcterms:created xsi:type="dcterms:W3CDTF">2026-08-20T05:00:11Z</dcterms:created>
  <dcterms:modified xsi:type="dcterms:W3CDTF">2026-08-20T05:00:11Z</dcterms:modified>
</cp:coreProperties>
</file>